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f8ad403124692" /><Relationship Type="http://schemas.openxmlformats.org/officeDocument/2006/relationships/extended-properties" Target="/docProps/app.xml" Id="R3ba3e78fe7ae4788" /><Relationship Type="http://schemas.openxmlformats.org/officeDocument/2006/relationships/officeDocument" Target="/ppt/presentation.xml" Id="Ra54de703c9ee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e34240f74474f"/>
  </p:sldMasterIdLst>
  <p:notesMasterIdLst>
    <p:notesMasterId xmlns:r="http://schemas.openxmlformats.org/officeDocument/2006/relationships" r:id="R33341e2221224c18"/>
  </p:notesMasterIdLst>
  <p:sldIdLst>
    <p:sldId xmlns:r="http://schemas.openxmlformats.org/officeDocument/2006/relationships" id="256" r:id="R8f72486fb7eb4559"/>
    <p:sldId xmlns:r="http://schemas.openxmlformats.org/officeDocument/2006/relationships" id="257" r:id="Re9b6e33626cd4a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e34240f74474f" /><Relationship Type="http://schemas.openxmlformats.org/officeDocument/2006/relationships/theme" Target="/ppt/theme/theme1.xml" Id="R24633decacb24b87" /><Relationship Type="http://schemas.openxmlformats.org/officeDocument/2006/relationships/notesMaster" Target="/ppt/notesMasters/notesMaster1.xml" Id="R33341e2221224c18" /><Relationship Type="http://schemas.openxmlformats.org/officeDocument/2006/relationships/presProps" Target="/ppt/presProps.xml" Id="R9c9a2e45ebb5437e" /><Relationship Type="http://schemas.openxmlformats.org/officeDocument/2006/relationships/viewProps" Target="/ppt/viewProps.xml" Id="R30adfc02e4aa47aa" /><Relationship Type="http://schemas.openxmlformats.org/officeDocument/2006/relationships/tableStyles" Target="/ppt/tableStyles.xml" Id="R0b9b069271174801" /><Relationship Type="http://schemas.openxmlformats.org/officeDocument/2006/relationships/slide" Target="/ppt/slides/slide1.xml" Id="R8f72486fb7eb4559" /><Relationship Type="http://schemas.openxmlformats.org/officeDocument/2006/relationships/slide" Target="/ppt/slides/slide2.xml" Id="Re9b6e33626cd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57ca341de342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5d9e890864d18" /><Relationship Type="http://schemas.openxmlformats.org/officeDocument/2006/relationships/notesMaster" Target="/ppt/notesMasters/notesMaster1.xml" Id="R5d61cf18e90e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c0054551774cee" /><Relationship Type="http://schemas.openxmlformats.org/officeDocument/2006/relationships/notesMaster" Target="/ppt/notesMasters/notesMaster1.xml" Id="Ra50de54692e8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035e33c3744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777343b0a754a3e" /><Relationship Type="http://schemas.openxmlformats.org/officeDocument/2006/relationships/slideLayout" Target="/ppt/slideLayouts/slideLayout2.xml" Id="R8f0987c73681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987c73681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2baf145774787" /><Relationship Type="http://schemas.openxmlformats.org/officeDocument/2006/relationships/image" Target="/ppt/media/image.png" Id="Rce19a78c3c464644" /><Relationship Type="http://schemas.openxmlformats.org/officeDocument/2006/relationships/notesSlide" Target="/ppt/notesSlides/notesSlide1.xml" Id="Rec84a89defc9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c5f7e8b5f48a0" /><Relationship Type="http://schemas.openxmlformats.org/officeDocument/2006/relationships/notesSlide" Target="/ppt/notesSlides/notesSlide2.xml" Id="R114722670f2d47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A0007-3C4B-4C6A-9D4E-AFFC6EB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7773C-41E6-469E-93F2-52519EE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888ED-21BB-45D3-AA2E-7AB31887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835FE-2052-4610-BD38-3DD08DD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59FDB-87D8-416A-B672-E2062AF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9D76E-CB8B-47D5-A14D-DF57C8DC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B67CE-8EE7-4BE1-8DF7-3E8619D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A0528-6988-49C0-8174-C73C18B0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C457C-B9C8-41CF-ABFD-64507F7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F1CDC-585D-463C-AB49-E4AE700A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E6A6C-74AC-496C-A6B2-6A01C67F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37808-3E56-4F0E-BE83-6201EE9F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C9C6F-1455-4605-B0FC-FFE9821D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rPr>
              <a:t>智能体调度框架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BAEF1-9F7D-42C2-BDD0-D78542DC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智能体调度总体框架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CD1F1-F3A4-4A4A-86A8-1F45E8F8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以任务目标为牵引，以能力图谱与共享状态为核心，构建面向多智能体协同执行的分层调度体系。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80AAF-DEAF-4231-B96D-D15CD09D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6700"/>
            <a:ext cx="1200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21AD9-628A-4B05-8BDE-C140B20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抽象框架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ABDE2-FCD2-4DA0-BCCC-A5698A8B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"/>
            <a:ext cx="1200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365C4-E84C-4C53-8371-FB65994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905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rPr>
              <a:t>学术汇报风格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9a78c3c464644"/>
          <a:srcRect xmlns:a="http://schemas.openxmlformats.org/drawingml/2006/main" l="0" t="811" r="0" b="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276350"/>
            <a:ext cx="3371850" cy="1866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C0D6C-12FC-4AD5-A615-F5B06B2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76350"/>
            <a:ext cx="33718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6667"/>
            </a:srgbClr>
          </a:solidFill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EE84B-55C7-4564-A220-DC9DCEB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47CDA-C5E2-40E7-9832-270E6846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13950-D4B3-49A0-8E37-9556AE3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框架核心命题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4DA1E-BC08-446B-A7F0-A3488D6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智能体调度并不是单一工具调用，而是将任务目标、环境约束、能力资源、依赖关系与执行反馈统一到一个可解释的调度闭环中，实现任务可分解、过程可控、结果可追踪。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704A6-4FE6-48CD-B7DB-33D8EDF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76350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DB86C-D29B-4B85-A2D7-D440771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1AB41-D0D8-4E11-B695-045E853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001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任务目标层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0272E-8FB0-4CD7-B189-978C9A9A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573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任务意图  ·  区域约束  ·  目标类别  ·  输出要求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42EAC-BC5F-4568-830A-6AF5880D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70411F-0CA3-4966-8628-9FC91C8F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C275CE-680B-42B3-991C-1052F5B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145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认知编排层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61F17-F9F6-4667-B960-E9829653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需求理解  ·  任务分解  ·  依赖建模  ·  计划生成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7200F-B4DA-40A6-B1AA-D9BB8F2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1762A-45A5-4C8E-B23A-1F32A79C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413"/>
          </a:solidFill>
          <a:ln xmlns:a="http://schemas.openxmlformats.org/drawingml/2006/main" w="0">
            <a:solidFill>
              <a:srgbClr val="D8941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655A05-6FE6-4291-905E-C88BECB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289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能力资源层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E175AF-0B90-4B50-AEEB-3F5015F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能力描述  ·  服务适配  ·  输入输出契约  ·  备用能力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295603-4FD3-4DB0-A07D-3BB58C8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309A34-8EF1-4CAA-A89E-5A99D0A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7CCC51-C387-4B86-B1CD-643586F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433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调度执行层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9CA8F4-8775-45E0-B97F-C45516A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005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就绪判定  ·  并行批次  ·  状态推进  ·  异常恢复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AE39C-20D2-483F-987E-50D1291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3390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FAF3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56A6CB-3FB7-4631-A4C8-82BE488E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86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59"/>
          </a:solidFill>
          <a:ln xmlns:a="http://schemas.openxmlformats.org/drawingml/2006/main" w="0">
            <a:solidFill>
              <a:srgbClr val="2E9B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CBD6AF-C387-4B9A-BF26-510E148C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577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结果汇聚层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70C6FC-2F05-4863-B8C2-FE29C8E4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149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结果融合  ·  质量评估  ·  轨迹回放  ·  报告生成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FE0450-C226-47F8-8919-79C5068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623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EC03A4-DFAA-4A40-88F6-84208F1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371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07677A-04CC-4B30-A716-BE233066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752C1D-4AB2-43FB-9977-4E948C6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调度决策中心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6557F8-3F37-435F-9AD8-802CF5F3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围绕“任务图”进行全局协调：选择可执行节点、组织并行批次，并依据反馈触发恢复、替换、降级或终止策略。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05F539-DAF0-49AC-8641-384E157A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371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6795CC-78CF-4FE6-846F-C42D3C2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4F9E57-E52A-4392-843A-1EE0E74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共享状态空间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A18EA4-77C6-4B83-B4BB-EDFCA20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统一保存任务目标、子任务图、执行状态、历史结果、质量信息、异常记录与调度证据，使各智能体在同一语义上下文中协作。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D76F68-9629-4821-8B64-C14C972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CD6EB1-1107-44F1-A667-A5072F7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7CB677-761A-4515-BBF2-E9E38D5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292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9B59"/>
          </a:solidFill>
          <a:ln xmlns:a="http://schemas.openxmlformats.org/drawingml/2006/main" w="0">
            <a:solidFill>
              <a:srgbClr val="2E9B5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9A749A-01EA-45C9-9707-FC4CB1B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4E1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04BE76-B336-4B2E-B09F-3598FB76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92BABC-DFB8-418E-A1A6-AD45F94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关键抽象对象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50E980-EE44-44EB-A3A1-A3883E2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任务目标：描述系统要完成什么。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能力图谱：描述系统能够调用什么。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任务图：描述子任务之间的先后与并行关系。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状态空间：描述当前执行进展与可复用结果。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反馈策略：描述异常出现后如何继续推进。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BC1E69-C3DD-48C9-9279-A735691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A80312-9439-4CC7-BCD6-9740928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13"/>
          </a:solidFill>
          <a:ln xmlns:a="http://schemas.openxmlformats.org/drawingml/2006/main" w="0">
            <a:solidFill>
              <a:srgbClr val="D8941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2611BF-A3AF-45E7-85AC-947D0464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学术表达重点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95AD68-29D6-4E0F-BE52-3FEC8496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从系统角度强调“分层协同、图驱动调度、反馈闭环与可解释性”，避免落入具体代码结构或单个函数实现细节。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FBC4B1-F5A7-4797-8723-F0A738A7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rPr>
              <a:t>图 1  面向智能体协同执行的分层调度总体框架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E07C33-CE05-4363-988A-A6F18AD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86229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FE317-5945-4742-8170-26DA5216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BDD10-5DCE-45D4-95B9-31E07445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87A1B-8FDD-4F1F-BDA7-EED3693B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0D691-D710-44BC-BCA1-84DE1278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65528-06E5-4ACB-BC25-7238B6A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E8AD9-60FA-4ED3-916C-47637E2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5B334-BCD9-40E3-A6AD-AE06046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6C94A-834E-4D09-9A10-0913CF1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D64BC-B81C-4071-ADA6-6351F393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19A9D-CBD1-4AF7-85BC-3FD5AD1F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E4221-2931-47C2-BE49-F7CE4BA3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15B9F-89A5-490B-B9D6-A4D6A41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19850"/>
            <a:ext cx="74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75586-9CCB-427B-BC86-89D26FC9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rPr>
              <a:t>调度机制框架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F13C2-4FA6-4F06-8659-1C770265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图驱动的调度闭环与决策机制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04CE3-C2FC-4D11-B959-B59E6A95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调度过程以任务依赖图为主线，在“就绪判定—并发执行—状态回写—反馈重规划”之间持续迭代。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70141-9B4D-4BB0-A7D9-C01C6137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6700"/>
            <a:ext cx="1200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38D17-105B-4A4F-9F68-D2745F87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rPr>
              <a:t>DAG 驱动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85A8F-26B2-4E6B-926D-B21ED556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"/>
            <a:ext cx="1200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AF3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50D31-6DEB-4364-A10C-92EB8A0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905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rPr>
              <a:t>闭环决策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E82C2-B629-4CD6-BB7F-25A4F93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4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12A81-1379-4824-BCC4-6D65B3F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</a:p>
          <a:p xmlns:a="http://schemas.openxmlformats.org/drawingml/2006/main">
            <a:pPr algn="ctr">
              <a:defRPr sz="78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1F5FBF"/>
                </a:solidFill>
                <a:latin typeface="Microsoft YaHei"/>
                <a:ea typeface="Microsoft YaHei"/>
                <a:cs typeface="Microsoft YaHei"/>
              </a:rPr>
              <a:t>与约束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01802-3767-4CB1-826A-D850B34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83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BC86A-85DB-4C27-8DE5-0CA50356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287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EE21C-7E2F-4018-96CF-40B378C3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049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rPr>
              <a:t>能力匹配</a:t>
            </a:r>
          </a:p>
          <a:p xmlns:a="http://schemas.openxmlformats.org/drawingml/2006/main">
            <a:pPr algn="ctr">
              <a:defRPr sz="780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0E9F98"/>
                </a:solidFill>
                <a:latin typeface="Microsoft YaHei"/>
                <a:ea typeface="Microsoft YaHei"/>
                <a:cs typeface="Microsoft YaHei"/>
              </a:rPr>
              <a:t>与分解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BAB71-37F9-435A-884C-F057F3E2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1B9E3-CB64-4262-8D7A-0F7F75FF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5FFDA-BB4F-47E0-A39E-D051565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D89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D89413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 xmlns:a="http://schemas.openxmlformats.org/drawingml/2006/main">
            <a:pPr algn="ctr">
              <a:defRPr sz="780" b="1">
                <a:solidFill>
                  <a:srgbClr val="D894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D89413"/>
                </a:solidFill>
                <a:latin typeface="Microsoft YaHei"/>
                <a:ea typeface="Microsoft YaHei"/>
                <a:cs typeface="Microsoft YaHei"/>
              </a:rPr>
              <a:t>依赖图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78C27-5868-4F8B-AD22-06F853D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383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413"/>
          </a:solidFill>
          <a:ln xmlns:a="http://schemas.openxmlformats.org/drawingml/2006/main" w="0">
            <a:solidFill>
              <a:srgbClr val="D8941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51F90-0A69-4312-9999-FF29894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DF417-A33B-46D4-B1D3-2FB752A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rPr>
              <a:t>就绪队列</a:t>
            </a:r>
          </a:p>
          <a:p xmlns:a="http://schemas.openxmlformats.org/drawingml/2006/main">
            <a:pPr algn="ctr">
              <a:defRPr sz="780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6554C0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58168-79D6-4D17-B258-E8A6EFA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055AB-22B1-44D1-B970-C3107926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9FF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3A03E-2665-48B6-8C38-DB4E252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并行批次</a:t>
            </a:r>
          </a:p>
          <a:p xmlns:a="http://schemas.openxmlformats.org/drawingml/2006/main">
            <a:pPr algn="ctr">
              <a:defRPr sz="780" b="1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B371A-8F30-438F-AA99-E0BD6CC8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0">
            <a:solidFill>
              <a:srgbClr val="2D7F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29EDC6-5804-4926-BC5B-AB0177F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AF3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C01C22-2645-4DA0-951B-5B7BE68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  <a:p xmlns:a="http://schemas.openxmlformats.org/drawingml/2006/main">
            <a:pPr algn="ctr">
              <a:def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B80802-916D-45CF-A0F6-2630A8F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82122-4313-46CB-892B-62FDB287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9B59"/>
          </a:solidFill>
          <a:ln xmlns:a="http://schemas.openxmlformats.org/drawingml/2006/main" w="0">
            <a:solidFill>
              <a:srgbClr val="2E9B5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CDA762-FBDC-4D7D-B2E9-AD25B3A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1466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AF3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DB4F25-2B05-4340-86E4-8BD972B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rPr>
              <a:t>状态更新</a:t>
            </a:r>
          </a:p>
          <a:p xmlns:a="http://schemas.openxmlformats.org/drawingml/2006/main">
            <a:pPr algn="ctr">
              <a:def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1">
                <a:solidFill>
                  <a:srgbClr val="2E9B59"/>
                </a:solidFill>
                <a:latin typeface="Microsoft YaHei"/>
                <a:ea typeface="Microsoft YaHei"/>
                <a:cs typeface="Microsoft YaHei"/>
              </a:rPr>
              <a:t>与终态判断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E207B4-0B27-485E-AC52-5D60660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733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BB8E6E-234E-45C8-BB7D-464718D1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6A3B4C-2974-4F30-A43E-5848211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调度循环的核心逻辑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41CE35-9EAB-4E72-88F6-AC8F8A4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448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1. 只选择依赖已满足的子任务进入就绪队列。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2. 将互不依赖的就绪任务组织为并行批次。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3. 每轮执行结束后回写状态与结果，驱动下一轮任务释放。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4. 当所有任务进入终态后，进入结果汇聚与质量评估阶段。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7E534-F558-491D-9E22-D7580D0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33C0C-3AEE-4603-8F62-9E8C001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B45"/>
          </a:solidFill>
          <a:ln xmlns:a="http://schemas.openxmlformats.org/drawingml/2006/main" w="0">
            <a:solidFill>
              <a:srgbClr val="C93B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3875DA-9BE9-44C2-AC2F-4F8C780B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异常反馈与重规划策略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6D7D7A-462F-4598-8F6F-5019156A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执行失败并不直接导致全局终止，而是先进入局部决策分支：根据失败性质、任务重要性、备用能力与重试预算，选择恢复、替换、降级或阻塞传播。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876CF0-C94A-41F7-9BEE-C30AE9FD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9223E4-7C91-4ED2-8367-BB8B6C91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CC542B-7A20-4041-8ECB-8D58EFB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重试恢复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845694-4692-4823-9807-80D0D833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B26FE0-29FF-422B-84D7-DD2C8D4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13"/>
          </a:solidFill>
          <a:ln xmlns:a="http://schemas.openxmlformats.org/drawingml/2006/main" w="0">
            <a:solidFill>
              <a:srgbClr val="D8941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2C46E3-9FCA-432F-BEF9-4769CD57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能力替换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3AD31B-0CCB-466F-AA82-DF928B5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FAF8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94AB78-666E-4A04-8A60-4154E50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751D7C-0AA9-4A2C-B0E7-60EF4A6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降级跳过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879120-454C-4370-B084-938441E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4209D4-2FF1-4111-8208-2D869AC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B45"/>
          </a:solidFill>
          <a:ln xmlns:a="http://schemas.openxmlformats.org/drawingml/2006/main" w="0">
            <a:solidFill>
              <a:srgbClr val="C93B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28B1FD-9654-4DF7-B624-D9842B76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阻塞终止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DF97BF-2E50-49F5-92A6-BEB01BB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413"/>
          </a:solidFill>
          <a:ln xmlns:a="http://schemas.openxmlformats.org/drawingml/2006/main" w="0">
            <a:solidFill>
              <a:srgbClr val="D8941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FA924B-F837-461C-A1E7-D12614DA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624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0">
            <a:solidFill>
              <a:srgbClr val="0E9F9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F76EEA-A2D9-4384-A33A-94AE8960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3B45"/>
          </a:solidFill>
          <a:ln xmlns:a="http://schemas.openxmlformats.org/drawingml/2006/main" w="0">
            <a:solidFill>
              <a:srgbClr val="C93B4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8B8470-BB2D-42C0-9364-B1217D22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3733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4E1E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9302B3-C2F8-4D54-95D5-47D019B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2857D7-A4E3-439A-85AB-9F2A04C5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状态生命周期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FA0020-B3F8-449A-A7B1-FE5E2E7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3448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待调度 → 就绪 → 执行中 → 成功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待调度 → 就绪 → 执行中 → 异常 → 恢复 / 替换 / 降级 / 阻塞</a:t>
            </a:r>
          </a:p>
          <a:p xmlns:a="http://schemas.openxmlformats.org/drawingml/2006/main">
            <a:pPr algn="l">
              <a:def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该状态链使调度过程具备可观测性、可复盘性与可评估性。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A70FB4-D0B3-4AB6-96FA-52EF2CF1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10150"/>
            <a:ext cx="59245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8B62A4-8277-4D3E-9E77-157396D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101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59"/>
          </a:solidFill>
          <a:ln xmlns:a="http://schemas.openxmlformats.org/drawingml/2006/main" w="0">
            <a:solidFill>
              <a:srgbClr val="2E9B5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0B9F9D-A1FA-4626-9D26-71472325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24450"/>
            <a:ext cx="563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调度原则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42303F-8EA1-43DD-BF32-1CB6DA4A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563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0657D"/>
                </a:solidFill>
                <a:latin typeface="Microsoft YaHei"/>
                <a:ea typeface="Microsoft YaHei"/>
                <a:cs typeface="Microsoft YaHei"/>
              </a:rPr>
              <a:t>依赖满足优先：避免错误前置执行。  并行批次最大化：提升多任务吞吐。  异常局部化：限制失败扩散。  过程可解释：保留决策依据与执行轨迹。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802EE3-9127-4814-B528-DFF42EF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rPr>
              <a:t>图 2  基于任务依赖图的调度闭环与反馈重规划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51D680-3915-43C8-B716-96E9D9C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482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7435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2026-06-01T14:55:55.5780000Z</dcterms:created>
  <dcterms:modified xsi:type="dcterms:W3CDTF">2026-06-01T14:55:55.5780000Z</dcterms:modified>
</coreProperties>
</file>